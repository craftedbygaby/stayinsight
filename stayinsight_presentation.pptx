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4" r:id="rId11"/>
    <p:sldId id="265" r:id="rId12"/>
    <p:sldId id="266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xNH8Sbcapys5OCT6aE6mResut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8" autoAdjust="0"/>
  </p:normalViewPr>
  <p:slideViewPr>
    <p:cSldViewPr snapToGrid="0">
      <p:cViewPr varScale="1">
        <p:scale>
          <a:sx n="139" d="100"/>
          <a:sy n="139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ED581A07-0891-0B20-2466-9B8E48F6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4F6A1247-A0CD-D5DA-0BDA-CCB48A0F0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F061CED6-9637-C643-66BB-183033F28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8BDB160B-4BFA-3540-DD6F-688BC62FEA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2415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F1B62D83-7794-F316-5561-E6DDBB47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B3A317C6-1F05-4DE1-A1C5-89DAF69F6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D6B9B2D3-5E6A-7B2A-57BD-27F5504679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Tourism density shows a moderate positive relationship with price.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Its relationship with satisfaction is weak and nearly negligible.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Location influences pricing, but not guest experience.</a:t>
            </a:r>
          </a:p>
        </p:txBody>
      </p:sp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242CF37A-D8ED-740F-0EA3-FE8D31C6C7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8094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66983de53_0_8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g3d66983de53_0_8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g3d66983de53_0_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66983de53_0_8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g3d66983de53_0_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66983de53_0_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d66983de53_0_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d66983de53_0_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66983de53_0_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d66983de53_0_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g3d66983de53_0_9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g3d66983de53_0_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66983de53_0_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d66983de53_0_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66983de53_0_10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g3d66983de53_0_10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3d66983de53_0_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66983de53_0_10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g3d66983de53_0_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66983de53_0_10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d66983de53_0_10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g3d66983de53_0_10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g3d66983de53_0_10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3d66983de53_0_1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66983de53_0_1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3d66983de53_0_1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66983de53_0_1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d66983de53_0_1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d66983de53_0_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66983de53_0_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3d66983de53_0_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3d66983de53_0_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640080" y="10972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StayInsight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58368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ACCOMMODATION INTELLIGENCE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640080" y="2423160"/>
            <a:ext cx="6400800" cy="0"/>
          </a:xfrm>
          <a:prstGeom prst="straightConnector1">
            <a:avLst/>
          </a:prstGeom>
          <a:noFill/>
          <a:ln w="12700" cap="flat" cmpd="sng">
            <a:solidFill>
              <a:srgbClr val="BA751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1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1800"/>
              <a:buFont typeface="Calibri"/>
              <a:buNone/>
            </a:pPr>
            <a:r>
              <a:rPr lang="en-US" sz="1800" b="0" i="1" u="none" strike="noStrike" cap="none" dirty="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Paris — Airbnb Analysis 2025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Desmond Ugboaja  ·  Gabriela Cascione  ·  Johannes Vidal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IronHack Data Analytics Bootcamp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65760" y="1005840"/>
            <a:ext cx="64008" cy="34747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this topic?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48640" y="146304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StayInsight</a:t>
            </a:r>
            <a:r>
              <a:rPr lang="en-US" sz="11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is a travel intelligence startup helping accommodation services make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smarter strategic </a:t>
            </a:r>
            <a:r>
              <a:rPr lang="en-US" sz="11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decisions in European cities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Paris chosen as first city — rich data availability across hospitality, especially Airbnb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Goal: understand what drives pricing, satisfaction and location patterns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8640" y="329184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Airbnb Paris weekdays &amp; weekends (Kaggle)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Hotel data via Google Hotel Scraper API (RapidAPI)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POI enrichment via Geoapify Places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Tourism &amp; Hospitality macro dataset (Kaggle)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INSERT CHART OR IMAGE HERE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78;g3d66983de53_0_0" title="Captura de pantalla 2026-04-15 173210.jpg">
            <a:extLst>
              <a:ext uri="{FF2B5EF4-FFF2-40B4-BE49-F238E27FC236}">
                <a16:creationId xmlns:a16="http://schemas.microsoft.com/office/drawing/2014/main" id="{1A06C6AC-FD9B-4925-1C8A-A386E225DA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205" t="5811" b="3823"/>
          <a:stretch/>
        </p:blipFill>
        <p:spPr>
          <a:xfrm>
            <a:off x="4416552" y="1213299"/>
            <a:ext cx="4779350" cy="305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Research Questions &amp; Hypotheses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65760" y="1005840"/>
            <a:ext cx="64008" cy="109728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48640" y="10789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RQ1 — Weekday vs Weekend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8640" y="13898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H: Airbnb listings will have lower cleanliness ratings and guest satisfaction scores on weekends due to higher turnover and less time for cleaning between stays.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65760" y="2240280"/>
            <a:ext cx="64008" cy="109728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48640" y="2313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RQ2 — Superhost Impact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48640" y="26243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H: Superhost listings will show higher guest satisfaction scores and cleanliness ratings than non-superhost listings, and will command higher prices per night.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65760" y="3474720"/>
            <a:ext cx="64008" cy="109728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48640" y="35478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RQ3 — Location &amp; Pricing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38587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H: Listings in areas with higher tourism intensity — rich in heritage and major attractions — tend to command higher prices, but do not necessarily achieve higher guest satisfaction.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Hypotheses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Wrangling &amp; Cleaning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105156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0292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Missing data &amp; duplicates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15087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Nulls handled per column with justified strategy. Duplicates checked after each merge and drop.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54880" y="105156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754880" y="105156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Formatting &amp; standardisation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892040" y="15087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string columns stripped and title-cased. Address lines cleaned of list formatting. City names standardised.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65760" y="278892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65760" y="278892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02920" y="2880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API — Google Hotels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" y="32461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Rome rows dropped. Hotels beyond 50km from Paris centre removed using Geopy distance calculation on lat/lon.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754880" y="278892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754880" y="278892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892040" y="2880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API — Geoapify POI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92040" y="32461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Extracted POIs within 500m radius. Derived n_geoapify_heritage and geoapify_tourism_density_score.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Data Wrangling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100584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Univariate analysis — distributions of cleanliness, satisfaction, pricing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Bivariate analysis — weekday vs weekend, </a:t>
            </a:r>
            <a:r>
              <a:rPr lang="en-US" sz="120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superhost</a:t>
            </a: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vs non-</a:t>
            </a:r>
            <a:r>
              <a:rPr lang="en-US" sz="120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superhost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Geographic analysis — latitude/longitude mapping of listings across Paris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Correlation analysis — tourism density score (POI) vs pricing and satisfaction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97680" y="914400"/>
            <a:ext cx="457200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297680" y="91440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400"/>
              <a:buFont typeface="Calibri"/>
              <a:buNone/>
            </a:pPr>
            <a:r>
              <a:rPr lang="en-US" sz="1400" i="1" dirty="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INSERT CHART HERE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Conclusions &amp; Insights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760" y="960120"/>
            <a:ext cx="841248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65760" y="960120"/>
            <a:ext cx="64008" cy="105156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48640" y="10149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RQ1 — Weekday vs Weekend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48640" y="128930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H: Lower cleanliness &amp; satisfaction on weekends due to higher turnover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1581912"/>
            <a:ext cx="8046720" cy="256032"/>
          </a:xfrm>
          <a:prstGeom prst="rect">
            <a:avLst/>
          </a:prstGeom>
          <a:solidFill>
            <a:srgbClr val="FAEEDA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94360" y="158191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Conclusion: Weekends actually have slightly better satisfaction, cleanliness, and higher prices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2483A97-8BE1-3DE0-FA1C-865023950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908" y="2103120"/>
            <a:ext cx="2565820" cy="192436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A81D77D-EA4F-AA46-D924-2E2218FF7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03120"/>
            <a:ext cx="2565820" cy="19243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0A5DE12-C3C6-C68B-7C43-2B7808131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799" y="2115543"/>
            <a:ext cx="2565820" cy="1924364"/>
          </a:xfrm>
          <a:prstGeom prst="rect">
            <a:avLst/>
          </a:prstGeom>
        </p:spPr>
      </p:pic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8CB2065C-CE4D-4D24-B345-C1D7213DD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44868"/>
              </p:ext>
            </p:extLst>
          </p:nvPr>
        </p:nvGraphicFramePr>
        <p:xfrm>
          <a:off x="594360" y="4154424"/>
          <a:ext cx="2083526" cy="487680"/>
        </p:xfrm>
        <a:graphic>
          <a:graphicData uri="http://schemas.openxmlformats.org/drawingml/2006/table">
            <a:tbl>
              <a:tblPr/>
              <a:tblGrid>
                <a:gridCol w="1041763">
                  <a:extLst>
                    <a:ext uri="{9D8B030D-6E8A-4147-A177-3AD203B41FA5}">
                      <a16:colId xmlns:a16="http://schemas.microsoft.com/office/drawing/2014/main" val="735531609"/>
                    </a:ext>
                  </a:extLst>
                </a:gridCol>
                <a:gridCol w="1041763">
                  <a:extLst>
                    <a:ext uri="{9D8B030D-6E8A-4147-A177-3AD203B41FA5}">
                      <a16:colId xmlns:a16="http://schemas.microsoft.com/office/drawing/2014/main" val="3268586877"/>
                    </a:ext>
                  </a:extLst>
                </a:gridCol>
              </a:tblGrid>
              <a:tr h="148167">
                <a:tc>
                  <a:txBody>
                    <a:bodyPr/>
                    <a:lstStyle/>
                    <a:p>
                      <a:pPr algn="ctr"/>
                      <a:endParaRPr lang="pt-BR" sz="9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Average</a:t>
                      </a:r>
                      <a:endParaRPr lang="pt-BR" sz="9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800371"/>
                  </a:ext>
                </a:extLst>
              </a:tr>
              <a:tr h="148167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Weekday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91,85</a:t>
                      </a:r>
                      <a:endParaRPr lang="pt-BR" sz="900" dirty="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756367"/>
                  </a:ext>
                </a:extLst>
              </a:tr>
              <a:tr h="148167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Weekend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92,20</a:t>
                      </a:r>
                      <a:endParaRPr lang="pt-BR" sz="900" dirty="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71353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AA63F322-94E9-532C-14A2-3D5EFE557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41043"/>
              </p:ext>
            </p:extLst>
          </p:nvPr>
        </p:nvGraphicFramePr>
        <p:xfrm>
          <a:off x="3530237" y="4183380"/>
          <a:ext cx="2083526" cy="487680"/>
        </p:xfrm>
        <a:graphic>
          <a:graphicData uri="http://schemas.openxmlformats.org/drawingml/2006/table">
            <a:tbl>
              <a:tblPr/>
              <a:tblGrid>
                <a:gridCol w="1041763">
                  <a:extLst>
                    <a:ext uri="{9D8B030D-6E8A-4147-A177-3AD203B41FA5}">
                      <a16:colId xmlns:a16="http://schemas.microsoft.com/office/drawing/2014/main" val="735531609"/>
                    </a:ext>
                  </a:extLst>
                </a:gridCol>
                <a:gridCol w="1041763">
                  <a:extLst>
                    <a:ext uri="{9D8B030D-6E8A-4147-A177-3AD203B41FA5}">
                      <a16:colId xmlns:a16="http://schemas.microsoft.com/office/drawing/2014/main" val="3268586877"/>
                    </a:ext>
                  </a:extLst>
                </a:gridCol>
              </a:tblGrid>
              <a:tr h="148167">
                <a:tc>
                  <a:txBody>
                    <a:bodyPr/>
                    <a:lstStyle/>
                    <a:p>
                      <a:pPr algn="ctr"/>
                      <a:endParaRPr lang="pt-BR" sz="9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Average</a:t>
                      </a:r>
                      <a:endParaRPr lang="pt-BR" sz="9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800371"/>
                  </a:ext>
                </a:extLst>
              </a:tr>
              <a:tr h="148167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Weekday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9,25</a:t>
                      </a:r>
                      <a:endParaRPr lang="pt-BR" sz="900" dirty="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756367"/>
                  </a:ext>
                </a:extLst>
              </a:tr>
              <a:tr h="148167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Weekend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9,27</a:t>
                      </a:r>
                      <a:endParaRPr lang="pt-BR" sz="900" dirty="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71353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2A2E7411-1509-7DB6-2AEE-D4012DE6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829018"/>
              </p:ext>
            </p:extLst>
          </p:nvPr>
        </p:nvGraphicFramePr>
        <p:xfrm>
          <a:off x="6375946" y="4183380"/>
          <a:ext cx="2083526" cy="487680"/>
        </p:xfrm>
        <a:graphic>
          <a:graphicData uri="http://schemas.openxmlformats.org/drawingml/2006/table">
            <a:tbl>
              <a:tblPr/>
              <a:tblGrid>
                <a:gridCol w="1041763">
                  <a:extLst>
                    <a:ext uri="{9D8B030D-6E8A-4147-A177-3AD203B41FA5}">
                      <a16:colId xmlns:a16="http://schemas.microsoft.com/office/drawing/2014/main" val="735531609"/>
                    </a:ext>
                  </a:extLst>
                </a:gridCol>
                <a:gridCol w="1041763">
                  <a:extLst>
                    <a:ext uri="{9D8B030D-6E8A-4147-A177-3AD203B41FA5}">
                      <a16:colId xmlns:a16="http://schemas.microsoft.com/office/drawing/2014/main" val="3268586877"/>
                    </a:ext>
                  </a:extLst>
                </a:gridCol>
              </a:tblGrid>
              <a:tr h="148167">
                <a:tc>
                  <a:txBody>
                    <a:bodyPr/>
                    <a:lstStyle/>
                    <a:p>
                      <a:pPr algn="ctr"/>
                      <a:endParaRPr lang="pt-BR" sz="9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Average</a:t>
                      </a:r>
                      <a:endParaRPr lang="pt-BR" sz="9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800371"/>
                  </a:ext>
                </a:extLst>
              </a:tr>
              <a:tr h="148167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Weekday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193,51</a:t>
                      </a:r>
                      <a:endParaRPr lang="pt-BR" sz="900" dirty="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756367"/>
                  </a:ext>
                </a:extLst>
              </a:tr>
              <a:tr h="148167">
                <a:tc>
                  <a:txBody>
                    <a:bodyPr/>
                    <a:lstStyle/>
                    <a:p>
                      <a:pPr algn="l"/>
                      <a:r>
                        <a:rPr lang="pt-BR" sz="900" b="1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Weekend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</a:rPr>
                        <a:t>199,39</a:t>
                      </a:r>
                      <a:endParaRPr lang="pt-BR" sz="900" dirty="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71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B583422F-AFBE-2F52-C9BE-80A66617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>
            <a:extLst>
              <a:ext uri="{FF2B5EF4-FFF2-40B4-BE49-F238E27FC236}">
                <a16:creationId xmlns:a16="http://schemas.microsoft.com/office/drawing/2014/main" id="{E143BA3E-085C-44BA-3EEE-15578FF20D23}"/>
              </a:ext>
            </a:extLst>
          </p:cNvPr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0F917220-5FFE-2F69-E514-E9B81DDB4400}"/>
              </a:ext>
            </a:extLst>
          </p:cNvPr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Conclusions &amp; Insights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>
            <a:extLst>
              <a:ext uri="{FF2B5EF4-FFF2-40B4-BE49-F238E27FC236}">
                <a16:creationId xmlns:a16="http://schemas.microsoft.com/office/drawing/2014/main" id="{7FC023E5-04CB-9B54-C806-1BAFAC5FA136}"/>
              </a:ext>
            </a:extLst>
          </p:cNvPr>
          <p:cNvSpPr/>
          <p:nvPr/>
        </p:nvSpPr>
        <p:spPr>
          <a:xfrm>
            <a:off x="365760" y="960120"/>
            <a:ext cx="841248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>
            <a:extLst>
              <a:ext uri="{FF2B5EF4-FFF2-40B4-BE49-F238E27FC236}">
                <a16:creationId xmlns:a16="http://schemas.microsoft.com/office/drawing/2014/main" id="{CE54A5A4-E956-6B79-74CC-D7CFA3BBCF27}"/>
              </a:ext>
            </a:extLst>
          </p:cNvPr>
          <p:cNvSpPr/>
          <p:nvPr/>
        </p:nvSpPr>
        <p:spPr>
          <a:xfrm>
            <a:off x="365760" y="960120"/>
            <a:ext cx="64008" cy="105156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>
            <a:extLst>
              <a:ext uri="{FF2B5EF4-FFF2-40B4-BE49-F238E27FC236}">
                <a16:creationId xmlns:a16="http://schemas.microsoft.com/office/drawing/2014/main" id="{26409721-0F75-4935-5564-096E4C485D68}"/>
              </a:ext>
            </a:extLst>
          </p:cNvPr>
          <p:cNvSpPr/>
          <p:nvPr/>
        </p:nvSpPr>
        <p:spPr>
          <a:xfrm>
            <a:off x="548640" y="10149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1A1A2E"/>
              </a:buClr>
              <a:buSzPts val="1200"/>
            </a:pPr>
            <a:r>
              <a:rPr lang="en-US" sz="1200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RQ2 — </a:t>
            </a:r>
            <a:r>
              <a:rPr lang="en-US" sz="1200" b="1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Superhost</a:t>
            </a:r>
            <a:r>
              <a:rPr lang="en-US" sz="1200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Impact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>
            <a:extLst>
              <a:ext uri="{FF2B5EF4-FFF2-40B4-BE49-F238E27FC236}">
                <a16:creationId xmlns:a16="http://schemas.microsoft.com/office/drawing/2014/main" id="{BFA06B82-474A-4A48-1B8D-732CFC660127}"/>
              </a:ext>
            </a:extLst>
          </p:cNvPr>
          <p:cNvSpPr/>
          <p:nvPr/>
        </p:nvSpPr>
        <p:spPr>
          <a:xfrm>
            <a:off x="548640" y="128930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780"/>
              </a:buClr>
              <a:buSzPts val="1000"/>
            </a:pPr>
            <a:r>
              <a:rPr lang="en-US" sz="1000" i="1" dirty="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H: </a:t>
            </a:r>
            <a:r>
              <a:rPr lang="en-US" sz="1000" i="1" dirty="0" err="1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Superhosts</a:t>
            </a:r>
            <a:r>
              <a:rPr lang="en-US" sz="1000" i="1" dirty="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 show higher satisfaction, cleanliness and prices</a:t>
            </a:r>
            <a:endParaRPr lang="en-US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>
            <a:extLst>
              <a:ext uri="{FF2B5EF4-FFF2-40B4-BE49-F238E27FC236}">
                <a16:creationId xmlns:a16="http://schemas.microsoft.com/office/drawing/2014/main" id="{DD508275-04E8-A061-D824-71586FE9265E}"/>
              </a:ext>
            </a:extLst>
          </p:cNvPr>
          <p:cNvSpPr/>
          <p:nvPr/>
        </p:nvSpPr>
        <p:spPr>
          <a:xfrm>
            <a:off x="548640" y="1581912"/>
            <a:ext cx="8046720" cy="256032"/>
          </a:xfrm>
          <a:prstGeom prst="rect">
            <a:avLst/>
          </a:prstGeom>
          <a:solidFill>
            <a:srgbClr val="FAEEDA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>
            <a:extLst>
              <a:ext uri="{FF2B5EF4-FFF2-40B4-BE49-F238E27FC236}">
                <a16:creationId xmlns:a16="http://schemas.microsoft.com/office/drawing/2014/main" id="{2CCAD1D1-E55A-D1AF-4763-9EC82600440B}"/>
              </a:ext>
            </a:extLst>
          </p:cNvPr>
          <p:cNvSpPr/>
          <p:nvPr/>
        </p:nvSpPr>
        <p:spPr>
          <a:xfrm>
            <a:off x="594360" y="158191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Conclusion: PLACEHOLDER — supported / refuted?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>
            <a:extLst>
              <a:ext uri="{FF2B5EF4-FFF2-40B4-BE49-F238E27FC236}">
                <a16:creationId xmlns:a16="http://schemas.microsoft.com/office/drawing/2014/main" id="{8E7AD28B-05A1-6477-4BEF-24CA7623FBE0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>
            <a:extLst>
              <a:ext uri="{FF2B5EF4-FFF2-40B4-BE49-F238E27FC236}">
                <a16:creationId xmlns:a16="http://schemas.microsoft.com/office/drawing/2014/main" id="{3AE14BEB-90C7-EE38-1B5E-E5D510227CE3}"/>
              </a:ext>
            </a:extLst>
          </p:cNvPr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>
            <a:extLst>
              <a:ext uri="{FF2B5EF4-FFF2-40B4-BE49-F238E27FC236}">
                <a16:creationId xmlns:a16="http://schemas.microsoft.com/office/drawing/2014/main" id="{A55AFB8C-BF3F-88D3-BCE3-0E7D43C12444}"/>
              </a:ext>
            </a:extLst>
          </p:cNvPr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4598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69948740-C3D0-542D-AC49-2057C379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>
            <a:extLst>
              <a:ext uri="{FF2B5EF4-FFF2-40B4-BE49-F238E27FC236}">
                <a16:creationId xmlns:a16="http://schemas.microsoft.com/office/drawing/2014/main" id="{ADBC74AA-4CB6-06D2-E049-EBB9BD1922C5}"/>
              </a:ext>
            </a:extLst>
          </p:cNvPr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9E9E20A1-391D-D538-1AE5-D2EC464BB12B}"/>
              </a:ext>
            </a:extLst>
          </p:cNvPr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Conclusions &amp; Insights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>
            <a:extLst>
              <a:ext uri="{FF2B5EF4-FFF2-40B4-BE49-F238E27FC236}">
                <a16:creationId xmlns:a16="http://schemas.microsoft.com/office/drawing/2014/main" id="{F2A79BF5-6B35-BDCE-BF6B-79FC121AC197}"/>
              </a:ext>
            </a:extLst>
          </p:cNvPr>
          <p:cNvSpPr/>
          <p:nvPr/>
        </p:nvSpPr>
        <p:spPr>
          <a:xfrm>
            <a:off x="365760" y="969264"/>
            <a:ext cx="8412480" cy="10515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>
            <a:extLst>
              <a:ext uri="{FF2B5EF4-FFF2-40B4-BE49-F238E27FC236}">
                <a16:creationId xmlns:a16="http://schemas.microsoft.com/office/drawing/2014/main" id="{EFCF4051-2E68-FF6C-3A2A-39B07369319A}"/>
              </a:ext>
            </a:extLst>
          </p:cNvPr>
          <p:cNvSpPr/>
          <p:nvPr/>
        </p:nvSpPr>
        <p:spPr>
          <a:xfrm>
            <a:off x="365760" y="960120"/>
            <a:ext cx="64008" cy="105156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>
            <a:extLst>
              <a:ext uri="{FF2B5EF4-FFF2-40B4-BE49-F238E27FC236}">
                <a16:creationId xmlns:a16="http://schemas.microsoft.com/office/drawing/2014/main" id="{8C6023A1-EA84-81C8-71AD-11389755E4F9}"/>
              </a:ext>
            </a:extLst>
          </p:cNvPr>
          <p:cNvSpPr/>
          <p:nvPr/>
        </p:nvSpPr>
        <p:spPr>
          <a:xfrm>
            <a:off x="548640" y="10149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1A1A2E"/>
              </a:buClr>
              <a:buSzPts val="1200"/>
            </a:pPr>
            <a:r>
              <a:rPr lang="en-US" sz="1200" b="1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RQ3 — Location &amp; Pricing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>
            <a:extLst>
              <a:ext uri="{FF2B5EF4-FFF2-40B4-BE49-F238E27FC236}">
                <a16:creationId xmlns:a16="http://schemas.microsoft.com/office/drawing/2014/main" id="{63D11911-6E23-0045-95B6-FE15CE3455F0}"/>
              </a:ext>
            </a:extLst>
          </p:cNvPr>
          <p:cNvSpPr/>
          <p:nvPr/>
        </p:nvSpPr>
        <p:spPr>
          <a:xfrm>
            <a:off x="548640" y="128930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780"/>
              </a:buClr>
              <a:buSzPts val="1000"/>
            </a:pPr>
            <a:r>
              <a:rPr lang="en-US" sz="1000" i="1" dirty="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H: Higher tourism intensity = higher prices, higher satisfaction</a:t>
            </a:r>
            <a:endParaRPr lang="en-US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>
            <a:extLst>
              <a:ext uri="{FF2B5EF4-FFF2-40B4-BE49-F238E27FC236}">
                <a16:creationId xmlns:a16="http://schemas.microsoft.com/office/drawing/2014/main" id="{D4DBE92E-5D04-3250-6435-599A92342E83}"/>
              </a:ext>
            </a:extLst>
          </p:cNvPr>
          <p:cNvSpPr/>
          <p:nvPr/>
        </p:nvSpPr>
        <p:spPr>
          <a:xfrm>
            <a:off x="548640" y="1581912"/>
            <a:ext cx="8046720" cy="256032"/>
          </a:xfrm>
          <a:prstGeom prst="rect">
            <a:avLst/>
          </a:prstGeom>
          <a:solidFill>
            <a:srgbClr val="FAEEDA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>
            <a:extLst>
              <a:ext uri="{FF2B5EF4-FFF2-40B4-BE49-F238E27FC236}">
                <a16:creationId xmlns:a16="http://schemas.microsoft.com/office/drawing/2014/main" id="{8F2B7B6E-2A29-F976-C8C2-83BD99A6FBD7}"/>
              </a:ext>
            </a:extLst>
          </p:cNvPr>
          <p:cNvSpPr/>
          <p:nvPr/>
        </p:nvSpPr>
        <p:spPr>
          <a:xfrm>
            <a:off x="594360" y="1581912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Conclusion: Location influences prices, but not guest satisfaction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>
            <a:extLst>
              <a:ext uri="{FF2B5EF4-FFF2-40B4-BE49-F238E27FC236}">
                <a16:creationId xmlns:a16="http://schemas.microsoft.com/office/drawing/2014/main" id="{13EB9C2C-5C6A-11DD-58EC-67D10082A8AB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>
            <a:extLst>
              <a:ext uri="{FF2B5EF4-FFF2-40B4-BE49-F238E27FC236}">
                <a16:creationId xmlns:a16="http://schemas.microsoft.com/office/drawing/2014/main" id="{840025EF-F367-DA5F-64D1-D63758516AB4}"/>
              </a:ext>
            </a:extLst>
          </p:cNvPr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>
            <a:extLst>
              <a:ext uri="{FF2B5EF4-FFF2-40B4-BE49-F238E27FC236}">
                <a16:creationId xmlns:a16="http://schemas.microsoft.com/office/drawing/2014/main" id="{3046F228-F631-2F70-BA6C-63AA5AEFBA40}"/>
              </a:ext>
            </a:extLst>
          </p:cNvPr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75;g3d66983de53_0_0" title="tourism density vs prices.png">
            <a:extLst>
              <a:ext uri="{FF2B5EF4-FFF2-40B4-BE49-F238E27FC236}">
                <a16:creationId xmlns:a16="http://schemas.microsoft.com/office/drawing/2014/main" id="{DA7B9DD9-595F-ADF2-626B-3142A35161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232" y="2291653"/>
            <a:ext cx="3948790" cy="23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d66983de53_0_0" title="satisfaction vs tourism densi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057" y="2291653"/>
            <a:ext cx="4041712" cy="2326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367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deeper: What actually drives guest satisfaction?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E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3474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 is the strongest driver of satisfaction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quality and comfort also play a key role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Tourism-related factors have minimal impact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3200400" cy="1371600"/>
          </a:xfrm>
          <a:prstGeom prst="rect">
            <a:avLst/>
          </a:prstGeom>
          <a:solidFill>
            <a:srgbClr val="FAEEDA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880360"/>
            <a:ext cx="54864" cy="1371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44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2461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 depends on internal quality, not location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price ≠ what drives satisfaction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005840"/>
            <a:ext cx="4663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E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0789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guest satisfaction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14813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 rating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1463040"/>
            <a:ext cx="2836047" cy="27432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0151" y="1481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60520" y="19933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49240" y="1975104"/>
            <a:ext cx="810299" cy="274320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4403" y="1993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60520" y="25054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Notre-Dame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2487168"/>
            <a:ext cx="720266" cy="274320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4370" y="2505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60520" y="30175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density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2999232"/>
            <a:ext cx="180066" cy="274320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417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60520" y="352958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POIs (1km)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3511296"/>
            <a:ext cx="585216" cy="274320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5295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4069080"/>
            <a:ext cx="2926080" cy="0"/>
          </a:xfrm>
          <a:prstGeom prst="line">
            <a:avLst/>
          </a:prstGeom>
          <a:noFill/>
          <a:ln w="6350">
            <a:solidFill>
              <a:srgbClr val="8887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4105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66692" y="4105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67025" y="4105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7357" y="41056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StayInsight  |  Paris Accommodation Analysis  2025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insight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Major Obstacle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1051560"/>
            <a:ext cx="4023360" cy="1463040"/>
          </a:xfrm>
          <a:prstGeom prst="rect">
            <a:avLst/>
          </a:prstGeom>
          <a:solidFill>
            <a:srgbClr val="26263E"/>
          </a:solidFill>
          <a:ln w="12700" cap="flat" cmpd="sng">
            <a:solidFill>
              <a:srgbClr val="BA75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The obstacle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94360" y="15087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Finding a suitable dataset was our biggest challenge. Available data didn't align with our initial research questions.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846320" y="1051560"/>
            <a:ext cx="4023360" cy="1463040"/>
          </a:xfrm>
          <a:prstGeom prst="rect">
            <a:avLst/>
          </a:prstGeom>
          <a:solidFill>
            <a:srgbClr val="26263E"/>
          </a:solidFill>
          <a:ln w="12700" cap="flat" cmpd="sng">
            <a:solidFill>
              <a:srgbClr val="BA75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846320" y="105156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98348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983480" y="15087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Defining questions and searching for datasets is an iterative process: if no dataset fits, pivot and keep looking until scope and data align.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26263E"/>
          </a:solidFill>
          <a:ln w="12700" cap="flat" cmpd="sng">
            <a:solidFill>
              <a:srgbClr val="BA75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594360" y="29260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How it influenced 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94360" y="32918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Gave us practical knowledge on how to handle data gaps in future projects. In the workplace, we'll proactively ask for more data and seek support from others: just as we did with Miguel.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26263E"/>
          </a:solidFill>
          <a:ln w="12700" cap="flat" cmpd="sng">
            <a:solidFill>
              <a:srgbClr val="BA75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4846320" y="2834640"/>
            <a:ext cx="64008" cy="146304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983480" y="29260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What we'd do differently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983480" y="329184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PLACEHOLDER — hindsight improvements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6263E"/>
          </a:solidFill>
          <a:ln w="12700" cap="flat" cmpd="sng">
            <a:solidFill>
              <a:srgbClr val="262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274320" y="4818888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365760" y="320040"/>
            <a:ext cx="64008" cy="50292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Teamwork &amp; Project Management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65760" y="105156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0292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02920" y="15087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Used Trello Kanban board to track tasks. Each member owned specific cards with checklists.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754880" y="105156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754880" y="1051560"/>
            <a:ext cx="64008" cy="146304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worked well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892040" y="15087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Kanban board for task tracking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Regular check-ins every 1h–1h30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Strong team support and collaboration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Clear division of work per question/hypothesis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65760" y="278892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65760" y="2788920"/>
            <a:ext cx="64008" cy="146304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02920" y="2880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to improve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02920" y="32461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Team communication outside of check-ins to ensure everyone stays on the same page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754880" y="2788920"/>
            <a:ext cx="4023360" cy="1463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AEED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54880" y="2788920"/>
            <a:ext cx="64008" cy="146304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92040" y="2880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Risk management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92040" y="324612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Difficulty finding a suitable dataset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Had to pivot from the original plan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Found an API and alternative dataset, adapted questions to the new scope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1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StayInsight  |  Paris Accommodation Analysis  2025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Teamwork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40080" y="10972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5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StayInsight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58368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ACCOMMODATION INTELLIGENCE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640080" y="2423160"/>
            <a:ext cx="6400800" cy="0"/>
          </a:xfrm>
          <a:prstGeom prst="straightConnector1">
            <a:avLst/>
          </a:prstGeom>
          <a:noFill/>
          <a:ln w="12700" cap="flat" cmpd="sng">
            <a:solidFill>
              <a:srgbClr val="BA751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9"/>
          <p:cNvSpPr/>
          <p:nvPr/>
        </p:nvSpPr>
        <p:spPr>
          <a:xfrm>
            <a:off x="640080" y="2560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640080" y="3246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AEEDA"/>
              </a:buClr>
              <a:buSzPts val="1400"/>
              <a:buFont typeface="Calibri"/>
              <a:buNone/>
            </a:pPr>
            <a:r>
              <a:rPr lang="en-US" sz="1400" i="1" dirty="0">
                <a:solidFill>
                  <a:srgbClr val="FAEEDA"/>
                </a:solidFill>
                <a:latin typeface="Calibri"/>
                <a:ea typeface="Calibri"/>
                <a:cs typeface="Calibri"/>
                <a:sym typeface="Calibri"/>
              </a:rPr>
              <a:t>Paris — Airbnb Analysis 2025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40080" y="4251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Desmond Ugboaja  ·  Gabriela Cascione  ·  Johannes Vidal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0080" y="46451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IronHack Data Analytics Bootcamp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D77719-D986-4C79-97F8-AA5D90DFCD2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c7223ec-2253-49e0-9702-ff0eb0f4511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857</Words>
  <Application>Microsoft Office PowerPoint</Application>
  <PresentationFormat>Apresentação na tela (16:9)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Gabriela Silva Cascione</cp:lastModifiedBy>
  <cp:revision>14</cp:revision>
  <dcterms:created xsi:type="dcterms:W3CDTF">2026-04-15T14:57:08Z</dcterms:created>
  <dcterms:modified xsi:type="dcterms:W3CDTF">2026-04-16T08:23:59Z</dcterms:modified>
</cp:coreProperties>
</file>